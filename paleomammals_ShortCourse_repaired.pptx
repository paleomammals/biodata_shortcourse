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gu/0aIV6cPmohlal0t70h4uK78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7"/>
    <p:restoredTop sz="93415"/>
  </p:normalViewPr>
  <p:slideViewPr>
    <p:cSldViewPr snapToGrid="0">
      <p:cViewPr varScale="1">
        <p:scale>
          <a:sx n="59" d="100"/>
          <a:sy n="59" d="100"/>
        </p:scale>
        <p:origin x="2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2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Data Analysis for 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Nature and Conservation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Paleomammals and Geospatial Statistics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Can R software do?</a:t>
            </a:r>
            <a:endParaRPr/>
          </a:p>
        </p:txBody>
      </p:sp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 is a computer language and computer environment used for: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Statistics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Data Analytics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Machine Learning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Mathematics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Modeling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Rstudio is an Integrated Development Environment that makes R easy to use.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Many schools expect that you will have some experience with R, python, or MATLAB. It is a huge education and career skill!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 is a language</a:t>
            </a:r>
            <a:endParaRPr/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 has a syntax and learning the language is the first part of learning R.</a:t>
            </a:r>
            <a:endParaRPr/>
          </a:p>
          <a:p>
            <a:pPr marL="228600" lvl="0" indent="-11747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BUT R is very logical and pretty simple! </a:t>
            </a:r>
            <a:endParaRPr/>
          </a:p>
          <a:p>
            <a:pPr marL="228600" lvl="0" indent="-11747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 was made for statistics, which sounds dry but remember that statistics is a big part of daily life from sports to finance to science!</a:t>
            </a:r>
            <a:endParaRPr/>
          </a:p>
          <a:p>
            <a:pPr marL="228600" lvl="0" indent="-11747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We can start slowly and build from there, just like anything on the computer. Think of it as learning a new type of game. </a:t>
            </a:r>
            <a:endParaRPr/>
          </a:p>
          <a:p>
            <a:pPr marL="228600" lvl="0" indent="-11747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nice thing about R is, like games, it is very visual. You can check to see what is working and you can make nice graphics. </a:t>
            </a:r>
            <a:endParaRPr/>
          </a:p>
          <a:p>
            <a:pPr marL="228600" lvl="0" indent="-11747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With not much time and effort, you will feel comfortable typing commands in R, the input, and looking at what it does… the output!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Data</a:t>
            </a:r>
            <a:endParaRPr/>
          </a:p>
        </p:txBody>
      </p:sp>
      <p:sp>
        <p:nvSpPr>
          <p:cNvPr id="103" name="Google Shape;103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 piece of data is usually considered a piece of factual information.</a:t>
            </a:r>
            <a:endParaRPr/>
          </a:p>
          <a:p>
            <a:pPr marL="228600" lvl="0" indent="-13081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It’s often a number, say “53”, but it may be a name or character too, like ”mammal” or “%”</a:t>
            </a:r>
            <a:endParaRPr/>
          </a:p>
          <a:p>
            <a:pPr marL="228600" lvl="0" indent="-13081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Putting multiple data together gives you a vector. Vectors can be used in matrix math for predicting changes over time.</a:t>
            </a:r>
            <a:endParaRPr/>
          </a:p>
          <a:p>
            <a:pPr marL="228600" lvl="0" indent="-13081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Vectors can be combined to make lists or dataframes. Dataframes are commonly used in science as rows and columns of many variables over different conditions (ie, Excel sheets).</a:t>
            </a:r>
            <a:endParaRPr/>
          </a:p>
          <a:p>
            <a:pPr marL="228600" lvl="0" indent="-13081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Functions allow you to manipulate data or create new data!</a:t>
            </a:r>
            <a:endParaRPr/>
          </a:p>
        </p:txBody>
      </p:sp>
      <p:pic>
        <p:nvPicPr>
          <p:cNvPr id="104" name="Google Shape;104;p4" descr="A number on a black background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11519" y="1360487"/>
            <a:ext cx="4356100" cy="66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71313" y="907256"/>
            <a:ext cx="70485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4" descr="A close-up of a math equation  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22355" y="2463570"/>
            <a:ext cx="2438400" cy="116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4" descr="A green and black text  Description automatically generated with medium confidenc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263310" y="2463570"/>
            <a:ext cx="2578100" cy="116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4" descr="A screenshot of a computer code  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385049" y="4190768"/>
            <a:ext cx="3455404" cy="242098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"/>
          <p:cNvSpPr txBox="1"/>
          <p:nvPr/>
        </p:nvSpPr>
        <p:spPr>
          <a:xfrm>
            <a:off x="7416966" y="316583"/>
            <a:ext cx="144378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Vector</a:t>
            </a:r>
            <a:endParaRPr/>
          </a:p>
        </p:txBody>
      </p:sp>
      <p:sp>
        <p:nvSpPr>
          <p:cNvPr id="110" name="Google Shape;110;p4"/>
          <p:cNvSpPr txBox="1"/>
          <p:nvPr/>
        </p:nvSpPr>
        <p:spPr>
          <a:xfrm>
            <a:off x="8430375" y="2133371"/>
            <a:ext cx="12633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Matrix</a:t>
            </a:r>
            <a:endParaRPr/>
          </a:p>
        </p:txBody>
      </p:sp>
      <p:sp>
        <p:nvSpPr>
          <p:cNvPr id="111" name="Google Shape;111;p4"/>
          <p:cNvSpPr txBox="1"/>
          <p:nvPr/>
        </p:nvSpPr>
        <p:spPr>
          <a:xfrm>
            <a:off x="8254035" y="3821436"/>
            <a:ext cx="16159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Dataframe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4049883" y="6315645"/>
            <a:ext cx="33054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https://rspatial.org/index.html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Raw data can be analyzed statistically for useful information!</a:t>
            </a:r>
            <a:endParaRPr/>
          </a:p>
        </p:txBody>
      </p:sp>
      <p:sp>
        <p:nvSpPr>
          <p:cNvPr id="118" name="Google Shape;118;p5"/>
          <p:cNvSpPr txBox="1"/>
          <p:nvPr/>
        </p:nvSpPr>
        <p:spPr>
          <a:xfrm>
            <a:off x="300036" y="2245558"/>
            <a:ext cx="7400925" cy="4247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= c(24,13,56,23,34,78,45,34,23,5,9,32,17,65,54,12,4,89,56,33,76,67,19)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= 23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Mean(Data) = sum(Data)/N = 37.73913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Median = median(Data) = 33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 = mode(Data) = 23, 34, 56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Variance = (Xi-Mean)^2 = 640.6561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SD = sqrt(var) = 25.31119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00961" y="1170795"/>
            <a:ext cx="4321635" cy="3198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91040" y="3831861"/>
            <a:ext cx="3629332" cy="268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 txBox="1"/>
          <p:nvPr/>
        </p:nvSpPr>
        <p:spPr>
          <a:xfrm>
            <a:off x="8715375" y="4729163"/>
            <a:ext cx="3057525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Data is often a sample from a population.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Using statistics, you can make confident inferences about the population from the small sample that you have!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Latitude and Longitude - Geocomputation</a:t>
            </a:r>
            <a:endParaRPr/>
          </a:p>
        </p:txBody>
      </p:sp>
      <p:pic>
        <p:nvPicPr>
          <p:cNvPr id="127" name="Google Shape;127;p6" descr="A map of new zealand with blue and grey colors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4989" y="4125474"/>
            <a:ext cx="4581524" cy="2624831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6"/>
          <p:cNvSpPr txBox="1"/>
          <p:nvPr/>
        </p:nvSpPr>
        <p:spPr>
          <a:xfrm>
            <a:off x="6858000" y="5957888"/>
            <a:ext cx="42291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https://r.geocompx.org/</a:t>
            </a:r>
            <a:endParaRPr/>
          </a:p>
        </p:txBody>
      </p:sp>
      <p:sp>
        <p:nvSpPr>
          <p:cNvPr id="129" name="Google Shape;129;p6"/>
          <p:cNvSpPr txBox="1"/>
          <p:nvPr/>
        </p:nvSpPr>
        <p:spPr>
          <a:xfrm>
            <a:off x="838200" y="1817150"/>
            <a:ext cx="4349261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Data science, ecology, and geography go hand in hand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Climate change is driving the integration of these fields to solve important problems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Understanding all of this is important not just for science but business and society!</a:t>
            </a:r>
            <a:endParaRPr/>
          </a:p>
        </p:txBody>
      </p:sp>
      <p:pic>
        <p:nvPicPr>
          <p:cNvPr id="130" name="Google Shape;130;p6" descr="A map of the world  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86424" y="1651727"/>
            <a:ext cx="5970587" cy="3871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7" descr="A screenshot of a computer screen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03815" y="0"/>
            <a:ext cx="418524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7"/>
          <p:cNvSpPr txBox="1"/>
          <p:nvPr/>
        </p:nvSpPr>
        <p:spPr>
          <a:xfrm>
            <a:off x="721895" y="589547"/>
            <a:ext cx="5847347" cy="3139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Elevation in Germany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 thousands of points!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raster makes small cells, or pixels, of the map and gives the average of each square.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Much less data to work with!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8" descr="A map of the state with different colored dots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91385"/>
            <a:ext cx="4254500" cy="42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8"/>
          <p:cNvSpPr/>
          <p:nvPr/>
        </p:nvSpPr>
        <p:spPr>
          <a:xfrm>
            <a:off x="4617244" y="1713747"/>
            <a:ext cx="2957512" cy="98583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p8" descr="A graph of a spider web  Description automatically generated with medium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16016" y="2858253"/>
            <a:ext cx="22987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8" descr="A map of the state of california  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12998" y="285371"/>
            <a:ext cx="2872623" cy="2856752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8"/>
          <p:cNvSpPr/>
          <p:nvPr/>
        </p:nvSpPr>
        <p:spPr>
          <a:xfrm>
            <a:off x="9577135" y="3259618"/>
            <a:ext cx="541421" cy="782053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8" descr="A map of the california state  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80723" y="4041671"/>
            <a:ext cx="2734243" cy="2719137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8"/>
          <p:cNvSpPr txBox="1"/>
          <p:nvPr/>
        </p:nvSpPr>
        <p:spPr>
          <a:xfrm>
            <a:off x="4847264" y="664917"/>
            <a:ext cx="249747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Interpolate!</a:t>
            </a:r>
            <a:endParaRPr/>
          </a:p>
        </p:txBody>
      </p:sp>
      <p:sp>
        <p:nvSpPr>
          <p:cNvPr id="148" name="Google Shape;148;p8"/>
          <p:cNvSpPr txBox="1"/>
          <p:nvPr/>
        </p:nvSpPr>
        <p:spPr>
          <a:xfrm>
            <a:off x="10335126" y="3429000"/>
            <a:ext cx="111893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Raster</a:t>
            </a:r>
            <a:endParaRPr/>
          </a:p>
        </p:txBody>
      </p:sp>
      <p:sp>
        <p:nvSpPr>
          <p:cNvPr id="149" name="Google Shape;149;p8"/>
          <p:cNvSpPr txBox="1"/>
          <p:nvPr/>
        </p:nvSpPr>
        <p:spPr>
          <a:xfrm>
            <a:off x="790643" y="5468785"/>
            <a:ext cx="6927713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Spatial Data Science – Precipitation in California</a:t>
            </a:r>
            <a:endParaRPr/>
          </a:p>
        </p:txBody>
      </p:sp>
      <p:sp>
        <p:nvSpPr>
          <p:cNvPr id="150" name="Google Shape;150;p8"/>
          <p:cNvSpPr txBox="1"/>
          <p:nvPr/>
        </p:nvSpPr>
        <p:spPr>
          <a:xfrm>
            <a:off x="168442" y="0"/>
            <a:ext cx="32725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https://rspatial.org/index.html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9" descr="A map of the world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126" y="1725723"/>
            <a:ext cx="3425479" cy="34065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9" descr="A map of the south and south america  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3260" y="1725723"/>
            <a:ext cx="3425479" cy="340655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9"/>
          <p:cNvSpPr txBox="1"/>
          <p:nvPr/>
        </p:nvSpPr>
        <p:spPr>
          <a:xfrm>
            <a:off x="639506" y="5829301"/>
            <a:ext cx="23687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Wild potatoes!</a:t>
            </a:r>
            <a:endParaRPr/>
          </a:p>
        </p:txBody>
      </p:sp>
      <p:sp>
        <p:nvSpPr>
          <p:cNvPr id="158" name="Google Shape;158;p9"/>
          <p:cNvSpPr txBox="1"/>
          <p:nvPr/>
        </p:nvSpPr>
        <p:spPr>
          <a:xfrm>
            <a:off x="4383260" y="5690801"/>
            <a:ext cx="2828925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 of species by country</a:t>
            </a:r>
            <a:endParaRPr/>
          </a:p>
        </p:txBody>
      </p:sp>
      <p:sp>
        <p:nvSpPr>
          <p:cNvPr id="159" name="Google Shape;159;p9"/>
          <p:cNvSpPr txBox="1"/>
          <p:nvPr/>
        </p:nvSpPr>
        <p:spPr>
          <a:xfrm>
            <a:off x="9107905" y="5690801"/>
            <a:ext cx="265897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Species richness in raster</a:t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3536605" y="3200400"/>
            <a:ext cx="846655" cy="58954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7808739" y="3116179"/>
            <a:ext cx="846656" cy="67376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 txBox="1"/>
          <p:nvPr/>
        </p:nvSpPr>
        <p:spPr>
          <a:xfrm>
            <a:off x="1636295" y="240632"/>
            <a:ext cx="861461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dataframe has wild potatoes with observation and species abundance</a:t>
            </a:r>
            <a:endParaRPr/>
          </a:p>
        </p:txBody>
      </p:sp>
      <p:sp>
        <p:nvSpPr>
          <p:cNvPr id="163" name="Google Shape;163;p9"/>
          <p:cNvSpPr txBox="1"/>
          <p:nvPr/>
        </p:nvSpPr>
        <p:spPr>
          <a:xfrm>
            <a:off x="8655395" y="6488668"/>
            <a:ext cx="342547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https://rspatial.org/index.html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9" descr="A map of the world  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655393" y="1725723"/>
            <a:ext cx="3425479" cy="34065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i="1"/>
              <a:t>Morpho menelaus </a:t>
            </a:r>
            <a:r>
              <a:rPr lang="en-US"/>
              <a:t>- </a:t>
            </a:r>
            <a:endParaRPr/>
          </a:p>
        </p:txBody>
      </p:sp>
      <p:pic>
        <p:nvPicPr>
          <p:cNvPr id="170" name="Google Shape;170;p10" descr="A blue butterfly with black wings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4909" y="1896581"/>
            <a:ext cx="5511091" cy="4596294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0"/>
          <p:cNvSpPr txBox="1"/>
          <p:nvPr/>
        </p:nvSpPr>
        <p:spPr>
          <a:xfrm>
            <a:off x="584909" y="6492875"/>
            <a:ext cx="55110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Wikipedia Commons</a:t>
            </a:r>
            <a:endParaRPr/>
          </a:p>
        </p:txBody>
      </p:sp>
      <p:sp>
        <p:nvSpPr>
          <p:cNvPr id="172" name="Google Shape;172;p10"/>
          <p:cNvSpPr txBox="1"/>
          <p:nvPr/>
        </p:nvSpPr>
        <p:spPr>
          <a:xfrm>
            <a:off x="7158038" y="2271713"/>
            <a:ext cx="4243387" cy="3139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Range from Mexico to South America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Like old growth forests with canopies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Hydorphobic wings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endangered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Highly prized by collectors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GBIF</a:t>
            </a:r>
            <a:endParaRPr/>
          </a:p>
        </p:txBody>
      </p:sp>
      <p:pic>
        <p:nvPicPr>
          <p:cNvPr id="178" name="Google Shape;178;p11" descr="A close up of a moth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8138" y="1983384"/>
            <a:ext cx="11305940" cy="45094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Species Occurences – Human Observations</a:t>
            </a:r>
            <a:endParaRPr/>
          </a:p>
        </p:txBody>
      </p:sp>
      <p:pic>
        <p:nvPicPr>
          <p:cNvPr id="184" name="Google Shape;184;p12" descr="A screenshot of a computer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3219" y="1843691"/>
            <a:ext cx="9565562" cy="4649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https://r.geocompx.org/</a:t>
            </a:r>
            <a:endParaRPr/>
          </a:p>
        </p:txBody>
      </p:sp>
      <p:pic>
        <p:nvPicPr>
          <p:cNvPr id="190" name="Google Shape;190;p13" descr="A screenshot of a book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8700" y="1932245"/>
            <a:ext cx="10134600" cy="49257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is modeling?</a:t>
            </a:r>
            <a:endParaRPr/>
          </a:p>
        </p:txBody>
      </p:sp>
      <p:pic>
        <p:nvPicPr>
          <p:cNvPr id="196" name="Google Shape;196;p14" descr="A white background with blue text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8650" y="1690688"/>
            <a:ext cx="4239799" cy="4461338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4"/>
          <p:cNvSpPr txBox="1"/>
          <p:nvPr/>
        </p:nvSpPr>
        <p:spPr>
          <a:xfrm>
            <a:off x="6500813" y="1814513"/>
            <a:ext cx="4852987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“A mathematical model is a representation of a system or scenario that is used to gain qualitative and/or quantitative understanding of some real-world problems and to predict future behavior.”</a:t>
            </a:r>
            <a:endParaRPr/>
          </a:p>
        </p:txBody>
      </p:sp>
      <p:sp>
        <p:nvSpPr>
          <p:cNvPr id="198" name="Google Shape;198;p14"/>
          <p:cNvSpPr txBox="1"/>
          <p:nvPr/>
        </p:nvSpPr>
        <p:spPr>
          <a:xfrm>
            <a:off x="6500813" y="3429000"/>
            <a:ext cx="446371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Models are simple abstractions of reality</a:t>
            </a:r>
            <a:endParaRPr/>
          </a:p>
        </p:txBody>
      </p:sp>
      <p:sp>
        <p:nvSpPr>
          <p:cNvPr id="199" name="Google Shape;199;p14"/>
          <p:cNvSpPr txBox="1"/>
          <p:nvPr/>
        </p:nvSpPr>
        <p:spPr>
          <a:xfrm>
            <a:off x="6500813" y="4319337"/>
            <a:ext cx="397042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Models take the core factors of a system and describe their relationships mathematically.</a:t>
            </a:r>
            <a:endParaRPr/>
          </a:p>
        </p:txBody>
      </p:sp>
      <p:sp>
        <p:nvSpPr>
          <p:cNvPr id="200" name="Google Shape;200;p14"/>
          <p:cNvSpPr txBox="1"/>
          <p:nvPr/>
        </p:nvSpPr>
        <p:spPr>
          <a:xfrm>
            <a:off x="6500813" y="5642810"/>
            <a:ext cx="504950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 models may exist to describe a system, the question is whether it makes sense and is useful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Example: Linear Model</a:t>
            </a:r>
            <a:endParaRPr/>
          </a:p>
        </p:txBody>
      </p:sp>
      <p:pic>
        <p:nvPicPr>
          <p:cNvPr id="206" name="Google Shape;206;p15" descr="A cover of a book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690688"/>
            <a:ext cx="4140968" cy="5043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5" descr="A graph and diagram of a graph  Description automatically generated with medium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25084" y="2193067"/>
            <a:ext cx="8219236" cy="3297364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5"/>
          <p:cNvSpPr txBox="1"/>
          <p:nvPr/>
        </p:nvSpPr>
        <p:spPr>
          <a:xfrm>
            <a:off x="4600575" y="5643563"/>
            <a:ext cx="67532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you change x…… how does y respond?</a:t>
            </a:r>
            <a:endParaRPr/>
          </a:p>
        </p:txBody>
      </p:sp>
      <p:sp>
        <p:nvSpPr>
          <p:cNvPr id="209" name="Google Shape;209;p15"/>
          <p:cNvSpPr txBox="1"/>
          <p:nvPr/>
        </p:nvSpPr>
        <p:spPr>
          <a:xfrm>
            <a:off x="5074444" y="1747169"/>
            <a:ext cx="204311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Population</a:t>
            </a:r>
            <a:endParaRPr/>
          </a:p>
        </p:txBody>
      </p:sp>
      <p:sp>
        <p:nvSpPr>
          <p:cNvPr id="210" name="Google Shape;210;p15"/>
          <p:cNvSpPr txBox="1"/>
          <p:nvPr/>
        </p:nvSpPr>
        <p:spPr>
          <a:xfrm>
            <a:off x="8243888" y="1690688"/>
            <a:ext cx="310991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Temperature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Generalized Linear Model and Machine Learning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BioClimate data</a:t>
            </a:r>
            <a:endParaRPr/>
          </a:p>
        </p:txBody>
      </p:sp>
      <p:pic>
        <p:nvPicPr>
          <p:cNvPr id="221" name="Google Shape;221;p17" descr="A screenshot of a white background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5275" y="2085428"/>
            <a:ext cx="6053472" cy="4407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7" descr="A list of weather forecasts  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48747" y="2085428"/>
            <a:ext cx="5758187" cy="3801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Linear Model - Correlation</a:t>
            </a:r>
            <a:endParaRPr/>
          </a:p>
        </p:txBody>
      </p:sp>
      <p:sp>
        <p:nvSpPr>
          <p:cNvPr id="228" name="Google Shape;228;p18"/>
          <p:cNvSpPr txBox="1"/>
          <p:nvPr/>
        </p:nvSpPr>
        <p:spPr>
          <a:xfrm>
            <a:off x="1672389" y="5967663"/>
            <a:ext cx="8614611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Species location and climate variables – how do they correlate and where?</a:t>
            </a:r>
            <a:endParaRPr/>
          </a:p>
        </p:txBody>
      </p:sp>
      <p:pic>
        <p:nvPicPr>
          <p:cNvPr id="229" name="Google Shape;229;p18" descr="A map of the world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690688"/>
            <a:ext cx="5493572" cy="3562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8" descr="A map of a cloud  Description automatically generated with medium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1772" y="1647538"/>
            <a:ext cx="5860228" cy="3800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Linear Model vs Machine Learning?</a:t>
            </a:r>
            <a:endParaRPr/>
          </a:p>
        </p:txBody>
      </p:sp>
      <p:pic>
        <p:nvPicPr>
          <p:cNvPr id="236" name="Google Shape;236;p19" descr="A map of the south america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3075" y="1933575"/>
            <a:ext cx="7073900" cy="477544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9"/>
          <p:cNvSpPr txBox="1"/>
          <p:nvPr/>
        </p:nvSpPr>
        <p:spPr>
          <a:xfrm>
            <a:off x="8658225" y="3171825"/>
            <a:ext cx="269557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ML?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727</Words>
  <Application>Microsoft Macintosh PowerPoint</Application>
  <PresentationFormat>Widescreen</PresentationFormat>
  <Paragraphs>111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Data Analysis for  Nature and Conservation</vt:lpstr>
      <vt:lpstr>What Can R software do?</vt:lpstr>
      <vt:lpstr>R is a language</vt:lpstr>
      <vt:lpstr>Data</vt:lpstr>
      <vt:lpstr>Raw data can be analyzed statistically for useful information!</vt:lpstr>
      <vt:lpstr>Latitude and Longitude - Geocomputation</vt:lpstr>
      <vt:lpstr>PowerPoint Presentation</vt:lpstr>
      <vt:lpstr>PowerPoint Presentation</vt:lpstr>
      <vt:lpstr>PowerPoint Presentation</vt:lpstr>
      <vt:lpstr>Morpho menelaus - </vt:lpstr>
      <vt:lpstr>GBIF</vt:lpstr>
      <vt:lpstr>Species Occurences – Human Observations</vt:lpstr>
      <vt:lpstr>https://r.geocompx.org/</vt:lpstr>
      <vt:lpstr>What is modeling?</vt:lpstr>
      <vt:lpstr>Example: Linear Model</vt:lpstr>
      <vt:lpstr>Generalized Linear Model and Machine Learning</vt:lpstr>
      <vt:lpstr>BioClimate data</vt:lpstr>
      <vt:lpstr>Linear Model - Correlation</vt:lpstr>
      <vt:lpstr>Linear Model vs Machine Learning?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Nathaniel Brown</dc:creator>
  <cp:lastModifiedBy>Jessica Blois</cp:lastModifiedBy>
  <cp:revision>1</cp:revision>
  <dcterms:created xsi:type="dcterms:W3CDTF">2024-06-19T17:41:24Z</dcterms:created>
  <dcterms:modified xsi:type="dcterms:W3CDTF">2025-07-10T16:02:26Z</dcterms:modified>
</cp:coreProperties>
</file>
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27"/>
    <p:restoredTop sz="93919"/>
  </p:normalViewPr>
  <p:slideViewPr>
    <p:cSldViewPr snapToGrid="0">
      <p:cViewPr varScale="1">
        <p:scale>
          <a:sx n="87" d="100"/>
          <a:sy n="87" d="100"/>
        </p:scale>
        <p:origin x="9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6e6d67be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6e6d67be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fcefcf60361728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fcefcf60361728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6e6d67b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6e6d67b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76ee8b8be6_1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76ee8b8be6_1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6ee8b8be6_1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6ee8b8be6_1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4BC08E82-D881-4726-ED4F-8CB3F006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6ee8b8be6_10_20:notes">
            <a:extLst>
              <a:ext uri="{FF2B5EF4-FFF2-40B4-BE49-F238E27FC236}">
                <a16:creationId xmlns:a16="http://schemas.microsoft.com/office/drawing/2014/main" id="{13704090-25B9-8925-CB21-6AC984559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6ee8b8be6_10_20:notes">
            <a:extLst>
              <a:ext uri="{FF2B5EF4-FFF2-40B4-BE49-F238E27FC236}">
                <a16:creationId xmlns:a16="http://schemas.microsoft.com/office/drawing/2014/main" id="{F7D9F805-8407-4C80-09D0-845B5E355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927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6a0c73d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6a0c73d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ab877c8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ab877c8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fcefcf60361728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fcefcf60361728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6a0c73d5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76a0c73d5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6a0c73d5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76a0c73d5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6d995db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6d995db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6d995db1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6d995db1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ab877c84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ab877c84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4-58173-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doc.govt.nz/predicted-nz-sea-lions-sit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ibrary.ucmerced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aturalist.org/observations?place_id=any&amp;subview=map" TargetMode="External"/><Relationship Id="rId3" Type="http://schemas.openxmlformats.org/officeDocument/2006/relationships/hyperlink" Target="https://www.ncei.noaa.gov/maps/paleo/" TargetMode="External"/><Relationship Id="rId7" Type="http://schemas.openxmlformats.org/officeDocument/2006/relationships/hyperlink" Target="https://paleobiodb.org/navigator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pps.neotomadb.org/explorer" TargetMode="External"/><Relationship Id="rId5" Type="http://schemas.openxmlformats.org/officeDocument/2006/relationships/hyperlink" Target="https://www.gbif.org/species/" TargetMode="External"/><Relationship Id="rId4" Type="http://schemas.openxmlformats.org/officeDocument/2006/relationships/hyperlink" Target="https://na.unep.net/atlas/googleEarth.php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fdl.noaa.gov/climate-modeling/" TargetMode="External"/><Relationship Id="rId3" Type="http://schemas.openxmlformats.org/officeDocument/2006/relationships/hyperlink" Target="https://bookdown.org/mcwimberly/gdswr-book/" TargetMode="External"/><Relationship Id="rId7" Type="http://schemas.openxmlformats.org/officeDocument/2006/relationships/hyperlink" Target="https://www.gisforscience.com/chapter10/v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qua.org/stories/2022-12-05-connecting-dots-the-science-of-tracking-wildlife" TargetMode="External"/><Relationship Id="rId5" Type="http://schemas.openxmlformats.org/officeDocument/2006/relationships/hyperlink" Target="https://www.nature.org/en-us/about-us/where-we-work/united-states/massachusetts/stories-in-massachusetts/data-science-wildlife-photos/?gclsrc=aw.ds&amp;gad_source=1&amp;gclid=CjwKCAjw4ri0BhAvEiwA8oo6F3JA_Eewh0FbgNRTyIocuAmvqcSp4boTVjvIhsELuiz_tVEymJdHzhoCZawQAvD_BwE" TargetMode="External"/><Relationship Id="rId4" Type="http://schemas.openxmlformats.org/officeDocument/2006/relationships/hyperlink" Target="https://storymaps.arcgis.com/collections/348fbd8b93304411ba8ad3641f19234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neotomadb.or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paleobiodb.org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855450"/>
            <a:ext cx="8520600" cy="30971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Download this slide show and</a:t>
            </a:r>
            <a:br>
              <a:rPr lang="en" b="1" dirty="0"/>
            </a:br>
            <a:r>
              <a:rPr lang="en" b="1" dirty="0"/>
              <a:t>work on your own copy!</a:t>
            </a:r>
            <a:br>
              <a:rPr lang="en" b="1" dirty="0"/>
            </a:br>
            <a:br>
              <a:rPr lang="en" b="1" dirty="0"/>
            </a:br>
            <a:r>
              <a:rPr lang="en" b="1" i="1" dirty="0"/>
              <a:t>(consult slides 2-6, but delete slides 1-6 from your final presentation)</a:t>
            </a:r>
            <a:br>
              <a:rPr lang="en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30825" y="454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Instructor notes (</a:t>
            </a:r>
            <a:r>
              <a:rPr lang="en" i="1" dirty="0"/>
              <a:t>do not include in presentation</a:t>
            </a:r>
            <a:r>
              <a:rPr lang="en" dirty="0"/>
              <a:t>)</a:t>
            </a:r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5782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 dirty="0">
                <a:solidFill>
                  <a:schemeClr val="dk1"/>
                </a:solidFill>
              </a:rPr>
              <a:t>The model you made in this class is called a </a:t>
            </a:r>
            <a:r>
              <a:rPr lang="en" sz="2200" i="1" dirty="0">
                <a:solidFill>
                  <a:schemeClr val="dk1"/>
                </a:solidFill>
              </a:rPr>
              <a:t>species distribution model</a:t>
            </a:r>
            <a:r>
              <a:rPr lang="en" sz="2200" dirty="0">
                <a:solidFill>
                  <a:schemeClr val="dk1"/>
                </a:solidFill>
              </a:rPr>
              <a:t> (SDM). 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-35782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 dirty="0">
                <a:solidFill>
                  <a:schemeClr val="dk1"/>
                </a:solidFill>
              </a:rPr>
              <a:t>Many studies are published with basically the same approach!</a:t>
            </a:r>
            <a:endParaRPr sz="2200" dirty="0">
              <a:solidFill>
                <a:schemeClr val="dk1"/>
              </a:solidFill>
            </a:endParaRPr>
          </a:p>
          <a:p>
            <a:pPr marL="914400" lvl="1" indent="-34020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00" dirty="0">
                <a:solidFill>
                  <a:schemeClr val="dk1"/>
                </a:solidFill>
              </a:rPr>
              <a:t>Look at this example paper: </a:t>
            </a:r>
            <a:r>
              <a:rPr lang="en" sz="1900" u="sng" dirty="0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"Predicting current and future habitat of Indian pangolin (</a:t>
            </a:r>
            <a:r>
              <a:rPr lang="en" sz="1900" i="1" u="sng" dirty="0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Manis crassicaudata</a:t>
            </a:r>
            <a:r>
              <a:rPr lang="en" sz="1900" u="sng" dirty="0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under climate change", Qasim et al., 2024.</a:t>
            </a:r>
            <a:r>
              <a:rPr lang="en" sz="1900" dirty="0">
                <a:solidFill>
                  <a:schemeClr val="dk1"/>
                </a:solidFill>
              </a:rPr>
              <a:t> </a:t>
            </a:r>
            <a:endParaRPr sz="1900" dirty="0">
              <a:solidFill>
                <a:schemeClr val="dk1"/>
              </a:solidFill>
            </a:endParaRPr>
          </a:p>
          <a:p>
            <a:pPr marL="914400" lvl="1" indent="-34020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00" dirty="0">
                <a:solidFill>
                  <a:schemeClr val="dk1"/>
                </a:solidFill>
              </a:rPr>
              <a:t>It’ll probably look pretty familiar.</a:t>
            </a:r>
            <a:endParaRPr sz="1900" dirty="0">
              <a:solidFill>
                <a:schemeClr val="dk1"/>
              </a:solidFill>
            </a:endParaRPr>
          </a:p>
          <a:p>
            <a:pPr marL="457200" lvl="0" indent="-35782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0" dirty="0">
                <a:solidFill>
                  <a:schemeClr val="dk1"/>
                </a:solidFill>
              </a:rPr>
              <a:t>SDMs are used to guide official decisions about land management. </a:t>
            </a:r>
            <a:endParaRPr sz="2200" dirty="0">
              <a:solidFill>
                <a:schemeClr val="dk1"/>
              </a:solidFill>
            </a:endParaRPr>
          </a:p>
          <a:p>
            <a:pPr marL="914400" lvl="1" indent="-34020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 dirty="0">
                <a:solidFill>
                  <a:schemeClr val="dk1"/>
                </a:solidFill>
              </a:rPr>
              <a:t>Look at this website by the New Zealand Dept. of Conservation: </a:t>
            </a:r>
            <a:r>
              <a:rPr lang="en" sz="1900" u="sng" dirty="0">
                <a:solidFill>
                  <a:schemeClr val="l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Predicting suitable breeding sites for New Zealand sea lions</a:t>
            </a:r>
            <a:endParaRPr sz="19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Guidelines for library work (</a:t>
            </a:r>
            <a:r>
              <a:rPr lang="en" i="1" dirty="0"/>
              <a:t>do not include in presentation</a:t>
            </a:r>
            <a:r>
              <a:rPr lang="en" dirty="0"/>
              <a:t>)</a:t>
            </a:r>
            <a:endParaRPr dirty="0"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Use the </a:t>
            </a:r>
            <a:r>
              <a:rPr lang="en" u="sng" dirty="0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library website</a:t>
            </a:r>
            <a:r>
              <a:rPr lang="en" dirty="0">
                <a:solidFill>
                  <a:schemeClr val="dk1"/>
                </a:solidFill>
              </a:rPr>
              <a:t> to look up references.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To reach the full search page, click in the search box &amp; hit enter without typing anything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Then choose “UC Merced Catalog” from the dropdown menu and enter your search terms.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Suggested search strings: [your species name] + any of the following: “conservation”, “ecology”, “conservation biology”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Find and read at least one of each of the following kinds of resource: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one </a:t>
            </a:r>
            <a:r>
              <a:rPr lang="en" u="sng" dirty="0">
                <a:solidFill>
                  <a:schemeClr val="dk1"/>
                </a:solidFill>
              </a:rPr>
              <a:t>physical book</a:t>
            </a:r>
            <a:r>
              <a:rPr lang="en" dirty="0">
                <a:solidFill>
                  <a:schemeClr val="dk1"/>
                </a:solidFill>
              </a:rPr>
              <a:t> from the collection (use the call number to find it in the stacks)</a:t>
            </a:r>
            <a:endParaRPr dirty="0"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 dirty="0">
                <a:solidFill>
                  <a:schemeClr val="dk1"/>
                </a:solidFill>
              </a:rPr>
              <a:t>Call numbers will look like this: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one </a:t>
            </a:r>
            <a:r>
              <a:rPr lang="en" u="sng" dirty="0">
                <a:solidFill>
                  <a:schemeClr val="dk1"/>
                </a:solidFill>
              </a:rPr>
              <a:t>peer-reviewed journal article</a:t>
            </a:r>
            <a:r>
              <a:rPr lang="en" dirty="0">
                <a:solidFill>
                  <a:schemeClr val="dk1"/>
                </a:solidFill>
              </a:rPr>
              <a:t> (look for the                          tag in the results)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Use these resources to fill in your knowledge about your species so you can tell us about your conclusions!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All the slides after this one are offered as a place to start preparing your presentation.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825" y="3351108"/>
            <a:ext cx="1149968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800" y="3085953"/>
            <a:ext cx="4805455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Interesting related websites (for if you finish early and want to explore more) - </a:t>
            </a:r>
            <a:r>
              <a:rPr lang="en" i="1" dirty="0"/>
              <a:t>do not include in presentation</a:t>
            </a:r>
            <a:endParaRPr i="1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401300"/>
            <a:ext cx="8520600" cy="3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Many public websites let you explore or add to data sets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Paleoclimate maps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https://www.ncei.noaa.gov/maps/paleo/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Land use changes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https://na.unep.net/atlas/googleEarth.php</a:t>
            </a:r>
            <a:r>
              <a:rPr lang="en" dirty="0">
                <a:solidFill>
                  <a:schemeClr val="dk1"/>
                </a:solidFill>
              </a:rPr>
              <a:t> (instructions for finding the layer in Google Earth)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Visualizations of species occurrence databases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GBIF:  </a:t>
            </a:r>
            <a:r>
              <a:rPr lang="en" u="sng" dirty="0">
                <a:solidFill>
                  <a:schemeClr val="hlink"/>
                </a:solidFill>
                <a:hlinkClick r:id="rId5"/>
              </a:rPr>
              <a:t>https://www.gbif.org/species/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Neotoma: </a:t>
            </a:r>
            <a:r>
              <a:rPr lang="en" u="sng" dirty="0">
                <a:solidFill>
                  <a:schemeClr val="hlink"/>
                </a:solidFill>
                <a:hlinkClick r:id="rId6"/>
              </a:rPr>
              <a:t>https://apps.neotomadb.org/explorer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Paleobiology Database: </a:t>
            </a:r>
            <a:r>
              <a:rPr lang="en" u="sng" dirty="0">
                <a:solidFill>
                  <a:schemeClr val="hlink"/>
                </a:solidFill>
                <a:hlinkClick r:id="rId7"/>
              </a:rPr>
              <a:t>https://paleobiodb.org/navigator/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Participatory biodiversity science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 err="1">
                <a:solidFill>
                  <a:schemeClr val="dk1"/>
                </a:solidFill>
              </a:rPr>
              <a:t>iNaturalist</a:t>
            </a:r>
            <a:r>
              <a:rPr lang="en" dirty="0">
                <a:solidFill>
                  <a:schemeClr val="dk1"/>
                </a:solidFill>
              </a:rPr>
              <a:t>: </a:t>
            </a:r>
            <a:r>
              <a:rPr lang="en" u="sng" dirty="0">
                <a:solidFill>
                  <a:schemeClr val="hlink"/>
                </a:solidFill>
                <a:hlinkClick r:id="rId8"/>
              </a:rPr>
              <a:t>https://www.inaturalist.org/observations?place_id=any&amp;subview=map</a:t>
            </a:r>
            <a:endParaRPr dirty="0"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 dirty="0">
                <a:solidFill>
                  <a:schemeClr val="dk1"/>
                </a:solidFill>
              </a:rPr>
              <a:t>Download the </a:t>
            </a:r>
            <a:r>
              <a:rPr lang="en" dirty="0" err="1">
                <a:solidFill>
                  <a:schemeClr val="dk1"/>
                </a:solidFill>
              </a:rPr>
              <a:t>iNaturalist</a:t>
            </a:r>
            <a:r>
              <a:rPr lang="en" dirty="0">
                <a:solidFill>
                  <a:schemeClr val="dk1"/>
                </a:solidFill>
              </a:rPr>
              <a:t> app to contribute your own observations!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401300"/>
            <a:ext cx="8520600" cy="3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Data science &amp; programming resources for biodiversity and conservation: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“Geographic Data Science with R” book mentioned in class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https://bookdown.org/mcwimberly/gdswr-book/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ArcGIS is another commonly used language for this kind of work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Intro to GIS: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https://storymaps.arcgis.com/collections/348fbd8b93304411ba8ad3641f192344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Besides habitat conservation and distribution modeling, there are </a:t>
            </a:r>
            <a:r>
              <a:rPr lang="en" u="sng" dirty="0">
                <a:solidFill>
                  <a:schemeClr val="dk1"/>
                </a:solidFill>
              </a:rPr>
              <a:t>many</a:t>
            </a:r>
            <a:r>
              <a:rPr lang="en" dirty="0">
                <a:solidFill>
                  <a:schemeClr val="dk1"/>
                </a:solidFill>
              </a:rPr>
              <a:t> other uses for data science in conservation. For just a few examples: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Using computer vision with camera traps to ID wildlife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Using wildlife tracking software with tags to monitor movement patterns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Environmental quality management using monitoring devices (e.g. </a:t>
            </a:r>
            <a:r>
              <a:rPr lang="en" u="sng" dirty="0">
                <a:solidFill>
                  <a:schemeClr val="hlink"/>
                </a:solidFill>
                <a:hlinkClick r:id="rId7"/>
              </a:rPr>
              <a:t>air quality</a:t>
            </a:r>
            <a:r>
              <a:rPr lang="en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8"/>
              </a:rPr>
              <a:t>Climate modeling</a:t>
            </a:r>
            <a:r>
              <a:rPr lang="en" dirty="0">
                <a:solidFill>
                  <a:schemeClr val="dk1"/>
                </a:solidFill>
              </a:rPr>
              <a:t>, of course (someone had to make those models we used!)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Other related resources for further study (</a:t>
            </a:r>
            <a:r>
              <a:rPr lang="en" i="1" dirty="0"/>
              <a:t>do not include in presentation</a:t>
            </a:r>
            <a:r>
              <a:rPr lang="en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CB3BE546-6951-DD1B-8359-0A398418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F6D3232E-4F94-CF17-05A7-BF7C21EEE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Save your presentation with a unique file name – </a:t>
            </a:r>
            <a:r>
              <a:rPr lang="en-US" dirty="0" err="1">
                <a:solidFill>
                  <a:schemeClr val="dk1"/>
                </a:solidFill>
              </a:rPr>
              <a:t>ie</a:t>
            </a:r>
            <a:r>
              <a:rPr lang="en-US" dirty="0">
                <a:solidFill>
                  <a:schemeClr val="dk1"/>
                </a:solidFill>
              </a:rPr>
              <a:t>,[your name]_[your species]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example: </a:t>
            </a:r>
            <a:r>
              <a:rPr lang="en-US" dirty="0" err="1">
                <a:solidFill>
                  <a:schemeClr val="dk1"/>
                </a:solidFill>
              </a:rPr>
              <a:t>Blois_Microtus_pennsylvanicus.pptx</a:t>
            </a:r>
            <a:endParaRPr lang="en-US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Replace [your study species] with the name of your chosen species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Update the text on each slide with information relevant to your chosen species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Before your presentation: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>
              <a:solidFill>
                <a:schemeClr val="dk1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Make sure you delete any ‘extra’ text from the template that is not necessary for your species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Make sure you delete all the blue/gray background slides from the presentation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EA991A1E-F5A4-1D5C-EF8F-B02EC2BC1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Using the slide template (</a:t>
            </a:r>
            <a:r>
              <a:rPr lang="en" i="1" dirty="0"/>
              <a:t>do not include in presentation</a:t>
            </a:r>
            <a:r>
              <a:rPr lang="en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369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[your study species]</a:t>
            </a:r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44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Common name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Scientific name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Where is it found today?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Interesting/unique characteristics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Endangered/threatened?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Fossil record: how old is the species?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(check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neotomadb.org</a:t>
            </a:r>
            <a:r>
              <a:rPr lang="en" dirty="0"/>
              <a:t> and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paleobiodb.org</a:t>
            </a:r>
            <a:r>
              <a:rPr lang="en" dirty="0"/>
              <a:t>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Other closely related species</a:t>
            </a:r>
            <a:endParaRPr dirty="0"/>
          </a:p>
        </p:txBody>
      </p:sp>
      <p:sp>
        <p:nvSpPr>
          <p:cNvPr id="87" name="Google Shape;87;p18"/>
          <p:cNvSpPr/>
          <p:nvPr/>
        </p:nvSpPr>
        <p:spPr>
          <a:xfrm>
            <a:off x="5448475" y="1152575"/>
            <a:ext cx="3325500" cy="341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add a picture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More ecological information about [your species]</a:t>
            </a:r>
            <a:endParaRPr dirty="0"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116775"/>
            <a:ext cx="5077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Body size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Habitat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Diet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Lifespan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Reproductive behavior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Social behavior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 err="1"/>
              <a:t>etc</a:t>
            </a:r>
            <a:endParaRPr dirty="0"/>
          </a:p>
        </p:txBody>
      </p:sp>
      <p:sp>
        <p:nvSpPr>
          <p:cNvPr id="94" name="Google Shape;94;p19"/>
          <p:cNvSpPr/>
          <p:nvPr/>
        </p:nvSpPr>
        <p:spPr>
          <a:xfrm>
            <a:off x="5448475" y="1152575"/>
            <a:ext cx="3325500" cy="341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dirty="0"/>
              <a:t>add more pictures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conservation challenges to your species</a:t>
            </a:r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" dirty="0"/>
              <a:t>Conservation challenge 1</a:t>
            </a:r>
          </a:p>
          <a:p>
            <a:pPr marL="285750" indent="-285750">
              <a:spcAft>
                <a:spcPts val="1200"/>
              </a:spcAft>
            </a:pPr>
            <a:r>
              <a:rPr lang="en" dirty="0"/>
              <a:t>Conservation challenge 2</a:t>
            </a:r>
          </a:p>
          <a:p>
            <a:pPr marL="285750" indent="-285750">
              <a:spcAft>
                <a:spcPts val="1200"/>
              </a:spcAft>
            </a:pPr>
            <a:r>
              <a:rPr lang="en" dirty="0" err="1"/>
              <a:t>etc</a:t>
            </a:r>
            <a:r>
              <a:rPr lang="en" dirty="0"/>
              <a:t>…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[also name your sources here]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Occurrence data map (Pleistocene through modern)</a:t>
            </a: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5840400" y="1152525"/>
            <a:ext cx="2991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has your species’ observed range changed from the last ice age to the present?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(this image is from the tutorial with </a:t>
            </a:r>
            <a:r>
              <a:rPr lang="en" i="1"/>
              <a:t>Microtus pennsylvanicus</a:t>
            </a:r>
            <a:r>
              <a:rPr lang="en"/>
              <a:t>; delete it and use your own)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552871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distribution maps (Pleistocene through Future)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5535325" y="1152475"/>
            <a:ext cx="3297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has the distribution of </a:t>
            </a:r>
            <a:r>
              <a:rPr lang="en" u="sng"/>
              <a:t>suitable habitat</a:t>
            </a:r>
            <a:r>
              <a:rPr lang="en"/>
              <a:t> changed through the three past and present maps?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will it change by 2070?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(this image is from the tutorial with </a:t>
            </a:r>
            <a:r>
              <a:rPr lang="en" i="1"/>
              <a:t>Microtus pennsylvanicus</a:t>
            </a:r>
            <a:r>
              <a:rPr lang="en"/>
              <a:t>; delete it and use your own)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75" y="1017725"/>
            <a:ext cx="4971614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important bioclimatic variables in the model</a:t>
            </a:r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(from your species distribution model)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about the species’ climate niche</a:t>
            </a:r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(How do the bioclimatic variables in the model relate to what you read about your species’ ecological niche?)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(What other factors that </a:t>
            </a:r>
            <a:r>
              <a:rPr lang="en" i="1"/>
              <a:t>weren’t</a:t>
            </a:r>
            <a:r>
              <a:rPr lang="en"/>
              <a:t> in your model might be important to habitat suitability? Could they potentially be included?)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Conservation priorities</a:t>
            </a:r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(Based on your </a:t>
            </a:r>
            <a:r>
              <a:rPr lang="en" i="1" u="sng"/>
              <a:t>species distribution models</a:t>
            </a:r>
            <a:r>
              <a:rPr lang="en"/>
              <a:t>, which places on Earth are likely to be the most important to your species’ survival in the near future?)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(Based on your </a:t>
            </a:r>
            <a:r>
              <a:rPr lang="en" i="1" u="sng"/>
              <a:t>background research</a:t>
            </a:r>
            <a:r>
              <a:rPr lang="en"/>
              <a:t>, what kind of condition do those places need to be kept in?)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FEFE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992</Words>
  <Application>Microsoft Macintosh PowerPoint</Application>
  <PresentationFormat>On-screen Show (16:9)</PresentationFormat>
  <Paragraphs>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Download this slide show and work on your own copy!  (consult slides 2-6, but delete slides 1-6 from your final presentation) </vt:lpstr>
      <vt:lpstr>Instructor notes (do not include in presentation)</vt:lpstr>
      <vt:lpstr>Guidelines for library work (do not include in presentation)</vt:lpstr>
      <vt:lpstr>Interesting related websites (for if you finish early and want to explore more) - do not include in presentation</vt:lpstr>
      <vt:lpstr>Other related resources for further study (do not include in presentation)</vt:lpstr>
      <vt:lpstr>Using the slide template (do not include in presentation)</vt:lpstr>
      <vt:lpstr>Introduction to [your study species]</vt:lpstr>
      <vt:lpstr>More ecological information about [your species]</vt:lpstr>
      <vt:lpstr>Main conservation challenges to your species</vt:lpstr>
      <vt:lpstr>Occurrence data map (Pleistocene through modern)</vt:lpstr>
      <vt:lpstr>Species distribution maps (Pleistocene through Future)</vt:lpstr>
      <vt:lpstr>Most important bioclimatic variables in the model</vt:lpstr>
      <vt:lpstr>Conclusions about the species’ climate niche</vt:lpstr>
      <vt:lpstr>Conservation priorities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Jessica Blois</cp:lastModifiedBy>
  <cp:revision>6</cp:revision>
  <dcterms:modified xsi:type="dcterms:W3CDTF">2026-02-16T19:34:30Z</dcterms:modified>
</cp:coreProperties>
</file>
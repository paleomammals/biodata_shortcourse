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5" r:id="rId3"/>
    <p:sldId id="257" r:id="rId4"/>
    <p:sldId id="258" r:id="rId5"/>
    <p:sldId id="259" r:id="rId6"/>
    <p:sldId id="260" r:id="rId7"/>
    <p:sldId id="261" r:id="rId8"/>
    <p:sldId id="268" r:id="rId9"/>
    <p:sldId id="262" r:id="rId10"/>
    <p:sldId id="263" r:id="rId11"/>
    <p:sldId id="264" r:id="rId12"/>
    <p:sldId id="265" r:id="rId13"/>
    <p:sldId id="269" r:id="rId14"/>
    <p:sldId id="270" r:id="rId15"/>
    <p:sldId id="272" r:id="rId16"/>
    <p:sldId id="266" r:id="rId17"/>
    <p:sldId id="267" r:id="rId18"/>
    <p:sldId id="273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gu/0aIV6cPmohlal0t70h4uK78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35"/>
    <p:restoredTop sz="80552"/>
  </p:normalViewPr>
  <p:slideViewPr>
    <p:cSldViewPr snapToGrid="0">
      <p:cViewPr>
        <p:scale>
          <a:sx n="110" d="100"/>
          <a:sy n="110" d="100"/>
        </p:scale>
        <p:origin x="424" y="-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fontAlgn="base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mode(Data) gives you storage mode of the variable</a:t>
            </a:r>
          </a:p>
          <a:p>
            <a:pPr marL="158750" indent="0" fontAlgn="base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fontAlgn="base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Need to define a function:</a:t>
            </a:r>
          </a:p>
          <a:p>
            <a:pPr marL="158750" indent="0" fontAlgn="base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fontAlgn="base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Mode &lt;- function(x) {</a:t>
            </a:r>
          </a:p>
          <a:p>
            <a:pPr marL="158750" indent="0" fontAlgn="base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ux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&lt;- unique(x)</a:t>
            </a:r>
          </a:p>
          <a:p>
            <a:pPr marL="158750" indent="0" fontAlgn="base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ux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[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which.max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(tabulate(match(x,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ux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)))]</a:t>
            </a:r>
          </a:p>
          <a:p>
            <a:pPr marL="158750" indent="0" fontAlgn="base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5" name="Google Shape;11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2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2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8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8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9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9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0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1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1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/>
              <a:t>Data Analysis for 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/>
              <a:t>Nature and Conservation</a:t>
            </a:r>
            <a:endParaRPr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Paleomammals and Geospatial Statistics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853D2-1FDA-0FE9-2A49-F693740DD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89272E-7D3F-2286-DF19-BA0B993EC5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the R software</a:t>
            </a:r>
          </a:p>
          <a:p>
            <a:r>
              <a:rPr lang="en-US" dirty="0"/>
              <a:t>About data</a:t>
            </a:r>
          </a:p>
          <a:p>
            <a:r>
              <a:rPr lang="en-US" dirty="0"/>
              <a:t>Spatial computation</a:t>
            </a:r>
          </a:p>
          <a:p>
            <a:r>
              <a:rPr lang="en-US" dirty="0"/>
              <a:t>Example: </a:t>
            </a:r>
            <a:r>
              <a:rPr lang="en-US" i="1" dirty="0"/>
              <a:t>Morpho </a:t>
            </a:r>
            <a:r>
              <a:rPr lang="en-US" i="1" dirty="0" err="1"/>
              <a:t>menelaus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488194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What is the R software?</a:t>
            </a:r>
            <a:endParaRPr dirty="0"/>
          </a:p>
        </p:txBody>
      </p:sp>
      <p:sp>
        <p:nvSpPr>
          <p:cNvPr id="91" name="Google Shape;91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/>
              <a:t>R is a computer language and computer environment used for: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Statistics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Data Analytics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Machine Learning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Mathematics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Modeling</a:t>
            </a:r>
          </a:p>
          <a:p>
            <a:pPr marL="228600" indent="-228600">
              <a:spcBef>
                <a:spcPts val="500"/>
              </a:spcBef>
              <a:buSzPts val="2400"/>
            </a:pPr>
            <a:r>
              <a:rPr lang="en-US" dirty="0"/>
              <a:t>Benefits of learning R</a:t>
            </a:r>
            <a:endParaRPr dirty="0"/>
          </a:p>
          <a:p>
            <a:pPr marL="692150" lvl="1" indent="-234950">
              <a:buSzPts val="2400"/>
            </a:pPr>
            <a:r>
              <a:rPr lang="en-US" dirty="0"/>
              <a:t>Many schools expect that you will have some experience with R, python, or MATLAB. It is a huge education and career skill!</a:t>
            </a:r>
          </a:p>
          <a:p>
            <a:pPr marL="692150" lvl="1" indent="-234950">
              <a:buSzPts val="2400"/>
            </a:pPr>
            <a:r>
              <a:rPr lang="en-US" dirty="0" err="1"/>
              <a:t>Rstudio</a:t>
            </a:r>
            <a:r>
              <a:rPr lang="en-US" dirty="0"/>
              <a:t> is an Integrated Development Environment that makes R easy to use.</a:t>
            </a:r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R is a language</a:t>
            </a:r>
            <a:endParaRPr/>
          </a:p>
        </p:txBody>
      </p:sp>
      <p:sp>
        <p:nvSpPr>
          <p:cNvPr id="97" name="Google Shape;97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R has a syntax and learning the language is the first part of learning R.</a:t>
            </a:r>
            <a:endParaRPr dirty="0"/>
          </a:p>
          <a:p>
            <a:pPr marL="228600" lvl="0" indent="-11747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BUT…R is very logical and pretty simple! </a:t>
            </a:r>
            <a:endParaRPr dirty="0"/>
          </a:p>
          <a:p>
            <a:pPr marL="228600" lvl="0" indent="-11747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It was made for statistics, which sounds dry but remember that statistics is a big part of daily life from sports to finance to science!</a:t>
            </a:r>
            <a:endParaRPr dirty="0"/>
          </a:p>
          <a:p>
            <a:pPr marL="228600" lvl="0" indent="-11747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We can start slowly and build from there, just like anything on the computer. Think of it as learning a new type of game. </a:t>
            </a:r>
            <a:endParaRPr dirty="0"/>
          </a:p>
          <a:p>
            <a:pPr marL="228600" lvl="0" indent="-11747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The nice thing about R is, like games, it is very visual. You can check to see what is working and you can make nice graphics. </a:t>
            </a:r>
            <a:endParaRPr dirty="0"/>
          </a:p>
          <a:p>
            <a:pPr marL="228600" lvl="0" indent="-11747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With not much time and effort, you will feel comfortable typing commands in R, the input, and looking at what it does… the output!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Data</a:t>
            </a:r>
            <a:endParaRPr/>
          </a:p>
        </p:txBody>
      </p:sp>
      <p:sp>
        <p:nvSpPr>
          <p:cNvPr id="103" name="Google Shape;103;p4"/>
          <p:cNvSpPr txBox="1">
            <a:spLocks noGrp="1"/>
          </p:cNvSpPr>
          <p:nvPr>
            <p:ph type="body" idx="1"/>
          </p:nvPr>
        </p:nvSpPr>
        <p:spPr>
          <a:xfrm>
            <a:off x="663906" y="159940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1600" dirty="0"/>
              <a:t>A piece of data is usually considered a piece of factual information.</a:t>
            </a:r>
            <a:endParaRPr sz="1600" dirty="0"/>
          </a:p>
          <a:p>
            <a:pPr marL="228600" lvl="0" indent="-13081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1600"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1600" dirty="0"/>
              <a:t>It’s often a number, say “53”, but it may be a name or character too, like ”mammal” or “%”</a:t>
            </a:r>
            <a:endParaRPr sz="1600" dirty="0"/>
          </a:p>
          <a:p>
            <a:pPr marL="228600" lvl="0" indent="-13081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1600"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1600" dirty="0"/>
              <a:t>Putting multiple data together gives you a </a:t>
            </a:r>
            <a:r>
              <a:rPr lang="en-US" sz="1600" b="1" u="sng" dirty="0"/>
              <a:t>vector</a:t>
            </a:r>
            <a:r>
              <a:rPr lang="en-US" sz="1600" dirty="0"/>
              <a:t>. Vectors can be used in matrix math for predicting changes over time.</a:t>
            </a:r>
            <a:endParaRPr sz="1600" dirty="0"/>
          </a:p>
          <a:p>
            <a:pPr marL="228600" lvl="0" indent="-13081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1600"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1600" dirty="0"/>
              <a:t>Vectors can be combined to make lists or </a:t>
            </a:r>
            <a:r>
              <a:rPr lang="en-US" sz="1600" b="1" u="sng" dirty="0" err="1"/>
              <a:t>dataframes</a:t>
            </a:r>
            <a:r>
              <a:rPr lang="en-US" sz="1600" dirty="0"/>
              <a:t>. </a:t>
            </a:r>
            <a:r>
              <a:rPr lang="en-US" sz="1600" dirty="0" err="1"/>
              <a:t>Dataframes</a:t>
            </a:r>
            <a:r>
              <a:rPr lang="en-US" sz="1600" dirty="0"/>
              <a:t> are commonly used in science as rows and columns of many variables over different conditions (</a:t>
            </a:r>
            <a:r>
              <a:rPr lang="en-US" sz="1600" dirty="0" err="1"/>
              <a:t>ie</a:t>
            </a:r>
            <a:r>
              <a:rPr lang="en-US" sz="1600" dirty="0"/>
              <a:t>, Excel sheets).</a:t>
            </a:r>
            <a:endParaRPr sz="1600" dirty="0"/>
          </a:p>
          <a:p>
            <a:pPr marL="228600" lvl="0" indent="-13081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1600"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1600" dirty="0"/>
              <a:t>Functions allow you to manipulate data or create new data!</a:t>
            </a:r>
            <a:endParaRPr sz="1600" dirty="0"/>
          </a:p>
        </p:txBody>
      </p:sp>
      <p:pic>
        <p:nvPicPr>
          <p:cNvPr id="104" name="Google Shape;104;p4" descr="A number on a black background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11519" y="1360487"/>
            <a:ext cx="4356100" cy="66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71313" y="907256"/>
            <a:ext cx="7048500" cy="24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4" descr="A close-up of a math equation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22355" y="2463570"/>
            <a:ext cx="2438400" cy="116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4" descr="A green and black text  Description automatically generated with medium confidence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263310" y="2463570"/>
            <a:ext cx="2578100" cy="116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4" descr="A screenshot of a computer code  Description automatically generated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02834" y="4001302"/>
            <a:ext cx="3455404" cy="2420984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4"/>
          <p:cNvSpPr txBox="1"/>
          <p:nvPr/>
        </p:nvSpPr>
        <p:spPr>
          <a:xfrm>
            <a:off x="7416966" y="316583"/>
            <a:ext cx="144378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Vector</a:t>
            </a:r>
            <a:endParaRPr/>
          </a:p>
        </p:txBody>
      </p:sp>
      <p:sp>
        <p:nvSpPr>
          <p:cNvPr id="110" name="Google Shape;110;p4"/>
          <p:cNvSpPr txBox="1"/>
          <p:nvPr/>
        </p:nvSpPr>
        <p:spPr>
          <a:xfrm>
            <a:off x="8430375" y="2133371"/>
            <a:ext cx="126331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Matrix</a:t>
            </a:r>
            <a:endParaRPr/>
          </a:p>
        </p:txBody>
      </p:sp>
      <p:sp>
        <p:nvSpPr>
          <p:cNvPr id="111" name="Google Shape;111;p4"/>
          <p:cNvSpPr txBox="1"/>
          <p:nvPr/>
        </p:nvSpPr>
        <p:spPr>
          <a:xfrm>
            <a:off x="8271820" y="3631970"/>
            <a:ext cx="16159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 txBox="1"/>
          <p:nvPr/>
        </p:nvSpPr>
        <p:spPr>
          <a:xfrm>
            <a:off x="9062032" y="6488668"/>
            <a:ext cx="330542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rspatial.org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index.html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Raw data can be analyzed statistically for useful information!</a:t>
            </a:r>
            <a:endParaRPr dirty="0"/>
          </a:p>
        </p:txBody>
      </p:sp>
      <p:sp>
        <p:nvSpPr>
          <p:cNvPr id="118" name="Google Shape;118;p5"/>
          <p:cNvSpPr txBox="1"/>
          <p:nvPr/>
        </p:nvSpPr>
        <p:spPr>
          <a:xfrm>
            <a:off x="300036" y="1682215"/>
            <a:ext cx="7400925" cy="4801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 raw data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= c(24,13,56,23,34,78,45,34,23,5,9,32,17,65,54,12,4,89,56,33,76,67,19)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Information about the raw data: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 = 23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Mean(Data) = sum(Data)/N = 37.73913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Median = median(Data) = 33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 = mode(Data) = 23, 34, 56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Variance = (Xi-Mean)^2 = 640.6561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SD = sqrt(var) = 25.31119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9" name="Google Shape;119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00961" y="1170795"/>
            <a:ext cx="4321635" cy="3198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91040" y="3831861"/>
            <a:ext cx="3629332" cy="268605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"/>
          <p:cNvSpPr txBox="1"/>
          <p:nvPr/>
        </p:nvSpPr>
        <p:spPr>
          <a:xfrm>
            <a:off x="8542721" y="4486586"/>
            <a:ext cx="3057525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Data is often a sample from a population.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Using statistics, you can make confident inferences about the population from the small sample that you have!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400"/>
            </a:pPr>
            <a:r>
              <a:rPr lang="en-US" dirty="0" err="1"/>
              <a:t>Geocomputation</a:t>
            </a:r>
            <a:r>
              <a:rPr lang="en-US" dirty="0"/>
              <a:t>: examining attributes across space (e.g., by latitude and longitude) </a:t>
            </a:r>
            <a:endParaRPr dirty="0"/>
          </a:p>
        </p:txBody>
      </p:sp>
      <p:pic>
        <p:nvPicPr>
          <p:cNvPr id="127" name="Google Shape;127;p6" descr="A map of new zealand with blue and grey colors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2310" y="4195371"/>
            <a:ext cx="4581524" cy="2624831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6"/>
          <p:cNvSpPr txBox="1"/>
          <p:nvPr/>
        </p:nvSpPr>
        <p:spPr>
          <a:xfrm>
            <a:off x="7788228" y="6308209"/>
            <a:ext cx="30558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r.geocompx.org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endParaRPr dirty="0"/>
          </a:p>
        </p:txBody>
      </p:sp>
      <p:sp>
        <p:nvSpPr>
          <p:cNvPr id="129" name="Google Shape;129;p6"/>
          <p:cNvSpPr txBox="1"/>
          <p:nvPr/>
        </p:nvSpPr>
        <p:spPr>
          <a:xfrm>
            <a:off x="819945" y="1817190"/>
            <a:ext cx="4581524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Data science, ecology, and geography go hand in hand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Climate change is driving the integration of these fields to solve important problems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Understanding all of this is important not just for science but business and society!</a:t>
            </a:r>
            <a:endParaRPr sz="1800" dirty="0"/>
          </a:p>
        </p:txBody>
      </p:sp>
      <p:pic>
        <p:nvPicPr>
          <p:cNvPr id="130" name="Google Shape;130;p6" descr="A map of the world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86424" y="1817190"/>
            <a:ext cx="5970587" cy="38718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https://</a:t>
            </a:r>
            <a:r>
              <a:rPr lang="en-US" dirty="0" err="1"/>
              <a:t>r.geocompx.org</a:t>
            </a:r>
            <a:r>
              <a:rPr lang="en-US" dirty="0"/>
              <a:t>/</a:t>
            </a:r>
            <a:endParaRPr dirty="0"/>
          </a:p>
        </p:txBody>
      </p:sp>
      <p:pic>
        <p:nvPicPr>
          <p:cNvPr id="190" name="Google Shape;190;p13" descr="A screenshot of a book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28700" y="1932245"/>
            <a:ext cx="10134600" cy="4925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7" descr="A screenshot of a computer screen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03815" y="0"/>
            <a:ext cx="418524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7"/>
          <p:cNvSpPr txBox="1"/>
          <p:nvPr/>
        </p:nvSpPr>
        <p:spPr>
          <a:xfrm>
            <a:off x="721895" y="589547"/>
            <a:ext cx="6257639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Example: Elevation in Germany</a:t>
            </a:r>
            <a:endParaRPr dirty="0">
              <a:solidFill>
                <a:schemeClr val="tx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thousands of points!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1800" b="1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makes small cells, or pixels, of the map and gives the average of each square.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Much less data to work with!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8" descr="A map of the state with different colored dots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591385"/>
            <a:ext cx="4254500" cy="421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8"/>
          <p:cNvSpPr/>
          <p:nvPr/>
        </p:nvSpPr>
        <p:spPr>
          <a:xfrm>
            <a:off x="4617244" y="1713747"/>
            <a:ext cx="2957512" cy="98583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Google Shape;143;p8" descr="A graph of a spider web  Description automatically generated with medium confidenc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16016" y="2858253"/>
            <a:ext cx="22987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8" descr="A map of the state of california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12998" y="285371"/>
            <a:ext cx="2872623" cy="2856752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8"/>
          <p:cNvSpPr/>
          <p:nvPr/>
        </p:nvSpPr>
        <p:spPr>
          <a:xfrm>
            <a:off x="9577135" y="3259618"/>
            <a:ext cx="541421" cy="782053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8" descr="A map of the california state  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480723" y="4041671"/>
            <a:ext cx="2734243" cy="271913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8"/>
          <p:cNvSpPr txBox="1"/>
          <p:nvPr/>
        </p:nvSpPr>
        <p:spPr>
          <a:xfrm>
            <a:off x="4847264" y="664917"/>
            <a:ext cx="249747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Interpolate!</a:t>
            </a:r>
            <a:endParaRPr/>
          </a:p>
        </p:txBody>
      </p:sp>
      <p:sp>
        <p:nvSpPr>
          <p:cNvPr id="148" name="Google Shape;148;p8"/>
          <p:cNvSpPr txBox="1"/>
          <p:nvPr/>
        </p:nvSpPr>
        <p:spPr>
          <a:xfrm>
            <a:off x="10335126" y="3429000"/>
            <a:ext cx="111893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</a:t>
            </a:r>
            <a:endParaRPr/>
          </a:p>
        </p:txBody>
      </p:sp>
      <p:sp>
        <p:nvSpPr>
          <p:cNvPr id="149" name="Google Shape;149;p8"/>
          <p:cNvSpPr txBox="1"/>
          <p:nvPr/>
        </p:nvSpPr>
        <p:spPr>
          <a:xfrm>
            <a:off x="374573" y="5468785"/>
            <a:ext cx="7343783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Example: Spatial Data Science –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Plotting California </a:t>
            </a:r>
            <a:r>
              <a:rPr lang="en-US" sz="3600" b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Drecipitation</a:t>
            </a:r>
            <a:r>
              <a:rPr lang="en-US" sz="3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data</a:t>
            </a:r>
            <a:endParaRPr dirty="0"/>
          </a:p>
        </p:txBody>
      </p:sp>
      <p:sp>
        <p:nvSpPr>
          <p:cNvPr id="150" name="Google Shape;150;p8"/>
          <p:cNvSpPr txBox="1"/>
          <p:nvPr/>
        </p:nvSpPr>
        <p:spPr>
          <a:xfrm>
            <a:off x="168442" y="0"/>
            <a:ext cx="327259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https://rspatial.org/index.html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9" descr="A map of the world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126" y="1725723"/>
            <a:ext cx="3425479" cy="34065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9" descr="A map of the south and south america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3260" y="1725723"/>
            <a:ext cx="3425479" cy="340655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9"/>
          <p:cNvSpPr txBox="1"/>
          <p:nvPr/>
        </p:nvSpPr>
        <p:spPr>
          <a:xfrm>
            <a:off x="639506" y="5829301"/>
            <a:ext cx="236871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Wild potatoes!</a:t>
            </a:r>
            <a:endParaRPr/>
          </a:p>
        </p:txBody>
      </p:sp>
      <p:sp>
        <p:nvSpPr>
          <p:cNvPr id="158" name="Google Shape;158;p9"/>
          <p:cNvSpPr txBox="1"/>
          <p:nvPr/>
        </p:nvSpPr>
        <p:spPr>
          <a:xfrm>
            <a:off x="4383260" y="5829301"/>
            <a:ext cx="282892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Species richness by country</a:t>
            </a:r>
            <a:endParaRPr dirty="0"/>
          </a:p>
        </p:txBody>
      </p:sp>
      <p:sp>
        <p:nvSpPr>
          <p:cNvPr id="159" name="Google Shape;159;p9"/>
          <p:cNvSpPr txBox="1"/>
          <p:nvPr/>
        </p:nvSpPr>
        <p:spPr>
          <a:xfrm>
            <a:off x="9038642" y="5829301"/>
            <a:ext cx="265897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Species richness in raster</a:t>
            </a:r>
            <a:endParaRPr dirty="0"/>
          </a:p>
        </p:txBody>
      </p:sp>
      <p:sp>
        <p:nvSpPr>
          <p:cNvPr id="160" name="Google Shape;160;p9"/>
          <p:cNvSpPr/>
          <p:nvPr/>
        </p:nvSpPr>
        <p:spPr>
          <a:xfrm>
            <a:off x="3536605" y="3200400"/>
            <a:ext cx="846655" cy="589547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7808739" y="3116179"/>
            <a:ext cx="846656" cy="67376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9"/>
          <p:cNvSpPr txBox="1"/>
          <p:nvPr/>
        </p:nvSpPr>
        <p:spPr>
          <a:xfrm>
            <a:off x="411480" y="240632"/>
            <a:ext cx="9839425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 Plot the number of species (species richness) of wild potato across the Americas</a:t>
            </a:r>
          </a:p>
        </p:txBody>
      </p:sp>
      <p:sp>
        <p:nvSpPr>
          <p:cNvPr id="163" name="Google Shape;163;p9"/>
          <p:cNvSpPr txBox="1"/>
          <p:nvPr/>
        </p:nvSpPr>
        <p:spPr>
          <a:xfrm>
            <a:off x="8655395" y="6488668"/>
            <a:ext cx="342547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https://rspatial.org/index.html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9" descr="A map of the world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5393" y="1725723"/>
            <a:ext cx="3425479" cy="340655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D69EFB-385B-A354-EFC9-E8F93A745D26}"/>
              </a:ext>
            </a:extLst>
          </p:cNvPr>
          <p:cNvSpPr txBox="1"/>
          <p:nvPr/>
        </p:nvSpPr>
        <p:spPr>
          <a:xfrm>
            <a:off x="502920" y="1485900"/>
            <a:ext cx="776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b="1" u="sng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contains information on wild potatoes with the observation locality and number of species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Example: </a:t>
            </a:r>
            <a:r>
              <a:rPr lang="en-US" i="1" dirty="0"/>
              <a:t>Morpho </a:t>
            </a:r>
            <a:r>
              <a:rPr lang="en-US" i="1" dirty="0" err="1"/>
              <a:t>menelaus</a:t>
            </a:r>
            <a:r>
              <a:rPr lang="en-US" i="1" dirty="0"/>
              <a:t> </a:t>
            </a:r>
            <a:r>
              <a:rPr lang="en-US" dirty="0"/>
              <a:t>– blue morpho butterfly</a:t>
            </a:r>
            <a:endParaRPr dirty="0"/>
          </a:p>
        </p:txBody>
      </p:sp>
      <p:pic>
        <p:nvPicPr>
          <p:cNvPr id="170" name="Google Shape;170;p10" descr="A blue butterfly with black wings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4909" y="1896581"/>
            <a:ext cx="5511091" cy="4596294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0"/>
          <p:cNvSpPr txBox="1"/>
          <p:nvPr/>
        </p:nvSpPr>
        <p:spPr>
          <a:xfrm>
            <a:off x="584909" y="6492875"/>
            <a:ext cx="551109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Wikipedia Commons</a:t>
            </a:r>
            <a:endParaRPr/>
          </a:p>
        </p:txBody>
      </p:sp>
      <p:sp>
        <p:nvSpPr>
          <p:cNvPr id="172" name="Google Shape;172;p10"/>
          <p:cNvSpPr txBox="1"/>
          <p:nvPr/>
        </p:nvSpPr>
        <p:spPr>
          <a:xfrm>
            <a:off x="7158038" y="2271713"/>
            <a:ext cx="4243387" cy="3139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Range from Mexico to South America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Like old growth forests with canopies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Hydorphobic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wings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endangered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Highly prized by collectors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1862-9310-FFF1-866B-F3210A4FBC78}"/>
              </a:ext>
            </a:extLst>
          </p:cNvPr>
          <p:cNvSpPr txBox="1"/>
          <p:nvPr/>
        </p:nvSpPr>
        <p:spPr>
          <a:xfrm>
            <a:off x="6754008" y="4923215"/>
            <a:ext cx="50514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If I wanted to see one, where in Central or South America should I go? </a:t>
            </a:r>
          </a:p>
          <a:p>
            <a:endParaRPr lang="en-US" sz="1800" dirty="0">
              <a:solidFill>
                <a:srgbClr val="FF0000"/>
              </a:solidFill>
            </a:endParaRPr>
          </a:p>
          <a:p>
            <a:r>
              <a:rPr lang="en-US" sz="1800" dirty="0">
                <a:solidFill>
                  <a:srgbClr val="FF0000"/>
                </a:solidFill>
              </a:rPr>
              <a:t>I can build a model that describes all the places on earth where habitats/environments/climate are most suitable for this species.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What is modeling?</a:t>
            </a:r>
            <a:endParaRPr/>
          </a:p>
        </p:txBody>
      </p:sp>
      <p:pic>
        <p:nvPicPr>
          <p:cNvPr id="196" name="Google Shape;196;p14" descr="A white background with blue text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8650" y="1690688"/>
            <a:ext cx="4239799" cy="4461338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4"/>
          <p:cNvSpPr txBox="1"/>
          <p:nvPr/>
        </p:nvSpPr>
        <p:spPr>
          <a:xfrm>
            <a:off x="6500813" y="1814513"/>
            <a:ext cx="4852987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“A mathematical model is a representation of a system or scenario that is used to gain qualitative and/or quantitative understanding of some real-world problems and to predict future behavior.”</a:t>
            </a:r>
            <a:endParaRPr/>
          </a:p>
        </p:txBody>
      </p:sp>
      <p:sp>
        <p:nvSpPr>
          <p:cNvPr id="198" name="Google Shape;198;p14"/>
          <p:cNvSpPr txBox="1"/>
          <p:nvPr/>
        </p:nvSpPr>
        <p:spPr>
          <a:xfrm>
            <a:off x="6500813" y="3429000"/>
            <a:ext cx="446371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 are simple abstractions of reality</a:t>
            </a:r>
            <a:endParaRPr/>
          </a:p>
        </p:txBody>
      </p:sp>
      <p:sp>
        <p:nvSpPr>
          <p:cNvPr id="199" name="Google Shape;199;p14"/>
          <p:cNvSpPr txBox="1"/>
          <p:nvPr/>
        </p:nvSpPr>
        <p:spPr>
          <a:xfrm>
            <a:off x="6500813" y="4319337"/>
            <a:ext cx="397042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 take the core factors of a system and describe their relationships mathematically.</a:t>
            </a:r>
            <a:endParaRPr/>
          </a:p>
        </p:txBody>
      </p:sp>
      <p:sp>
        <p:nvSpPr>
          <p:cNvPr id="200" name="Google Shape;200;p14"/>
          <p:cNvSpPr txBox="1"/>
          <p:nvPr/>
        </p:nvSpPr>
        <p:spPr>
          <a:xfrm>
            <a:off x="6500813" y="5642810"/>
            <a:ext cx="504950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models may exist to describe a system, the question is whether it makes sense and is useful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Example: Linear Model</a:t>
            </a:r>
            <a:endParaRPr/>
          </a:p>
        </p:txBody>
      </p:sp>
      <p:pic>
        <p:nvPicPr>
          <p:cNvPr id="206" name="Google Shape;206;p15" descr="A cover of a book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690688"/>
            <a:ext cx="4140968" cy="5043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5" descr="A graph and diagram of a graph  Description automatically generated with medium confidenc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25084" y="2193067"/>
            <a:ext cx="8219236" cy="3297364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5"/>
          <p:cNvSpPr txBox="1"/>
          <p:nvPr/>
        </p:nvSpPr>
        <p:spPr>
          <a:xfrm>
            <a:off x="4600575" y="5643563"/>
            <a:ext cx="6753225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you change x…… how does y respond?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What are x and y in our example?</a:t>
            </a:r>
            <a:endParaRPr dirty="0"/>
          </a:p>
        </p:txBody>
      </p:sp>
      <p:sp>
        <p:nvSpPr>
          <p:cNvPr id="209" name="Google Shape;209;p15"/>
          <p:cNvSpPr txBox="1"/>
          <p:nvPr/>
        </p:nvSpPr>
        <p:spPr>
          <a:xfrm>
            <a:off x="5074444" y="1747169"/>
            <a:ext cx="204311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Population</a:t>
            </a:r>
            <a:endParaRPr/>
          </a:p>
        </p:txBody>
      </p:sp>
      <p:sp>
        <p:nvSpPr>
          <p:cNvPr id="210" name="Google Shape;210;p15"/>
          <p:cNvSpPr txBox="1"/>
          <p:nvPr/>
        </p:nvSpPr>
        <p:spPr>
          <a:xfrm>
            <a:off x="8243888" y="1690688"/>
            <a:ext cx="310991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Temperature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8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7"/>
          <p:cNvSpPr txBox="1">
            <a:spLocks noGrp="1"/>
          </p:cNvSpPr>
          <p:nvPr>
            <p:ph type="title"/>
          </p:nvPr>
        </p:nvSpPr>
        <p:spPr>
          <a:xfrm>
            <a:off x="497711" y="365125"/>
            <a:ext cx="108560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 err="1"/>
              <a:t>BioClimate</a:t>
            </a:r>
            <a:r>
              <a:rPr lang="en-US" dirty="0"/>
              <a:t> data</a:t>
            </a:r>
            <a:br>
              <a:rPr lang="en-US" dirty="0"/>
            </a:br>
            <a:r>
              <a:rPr lang="en-US" sz="3200" dirty="0"/>
              <a:t>(i.e., the x, independent, or predictor variables)</a:t>
            </a:r>
            <a:endParaRPr sz="3200" dirty="0"/>
          </a:p>
        </p:txBody>
      </p:sp>
      <p:pic>
        <p:nvPicPr>
          <p:cNvPr id="221" name="Google Shape;221;p17" descr="A screenshot of a white background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275" y="2085428"/>
            <a:ext cx="6053472" cy="440744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17" descr="A list of weather forecasts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8747" y="2085428"/>
            <a:ext cx="5758187" cy="3801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400"/>
            </a:pPr>
            <a:r>
              <a:rPr lang="en-US" dirty="0"/>
              <a:t>GBIF: Global Biodiversity Information Facility</a:t>
            </a:r>
            <a:br>
              <a:rPr lang="en-US" dirty="0"/>
            </a:br>
            <a:r>
              <a:rPr lang="en-US" sz="3200" dirty="0"/>
              <a:t>(i.e. the y or dependent variable)</a:t>
            </a:r>
            <a:endParaRPr sz="3200" dirty="0"/>
          </a:p>
        </p:txBody>
      </p:sp>
      <p:pic>
        <p:nvPicPr>
          <p:cNvPr id="178" name="Google Shape;178;p11" descr="A close up of a moth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8138" y="1983384"/>
            <a:ext cx="11305940" cy="45094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Species Occurrences – Human Observations</a:t>
            </a:r>
            <a:br>
              <a:rPr lang="en-US" dirty="0"/>
            </a:br>
            <a:r>
              <a:rPr lang="en-US" sz="3200" dirty="0"/>
              <a:t>(i.e. the y or dependent variable)</a:t>
            </a:r>
            <a:endParaRPr sz="3200" dirty="0"/>
          </a:p>
        </p:txBody>
      </p:sp>
      <p:pic>
        <p:nvPicPr>
          <p:cNvPr id="184" name="Google Shape;184;p12" descr="A screenshot of a computer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13219" y="1843691"/>
            <a:ext cx="9565562" cy="4649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Generalized Linear Model – correlating occurrences with climate</a:t>
            </a:r>
            <a:endParaRPr dirty="0"/>
          </a:p>
        </p:txBody>
      </p:sp>
      <p:sp>
        <p:nvSpPr>
          <p:cNvPr id="228" name="Google Shape;228;p18"/>
          <p:cNvSpPr txBox="1"/>
          <p:nvPr/>
        </p:nvSpPr>
        <p:spPr>
          <a:xfrm>
            <a:off x="1672389" y="5967663"/>
            <a:ext cx="8614611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Species location and climate variables – how do they correlate and where?</a:t>
            </a:r>
            <a:endParaRPr/>
          </a:p>
        </p:txBody>
      </p:sp>
      <p:pic>
        <p:nvPicPr>
          <p:cNvPr id="230" name="Google Shape;230;p18" descr="A map of a cloud  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1690688"/>
            <a:ext cx="5860228" cy="38007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929</Words>
  <Application>Microsoft Macintosh PowerPoint</Application>
  <PresentationFormat>Widescreen</PresentationFormat>
  <Paragraphs>130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Data Analysis for  Nature and Conservation</vt:lpstr>
      <vt:lpstr>Overview</vt:lpstr>
      <vt:lpstr>What is the R software?</vt:lpstr>
      <vt:lpstr>R is a language</vt:lpstr>
      <vt:lpstr>Data</vt:lpstr>
      <vt:lpstr>Raw data can be analyzed statistically for useful information!</vt:lpstr>
      <vt:lpstr>Geocomputation: examining attributes across space (e.g., by latitude and longitude) </vt:lpstr>
      <vt:lpstr>https://r.geocompx.org/</vt:lpstr>
      <vt:lpstr>PowerPoint Presentation</vt:lpstr>
      <vt:lpstr>PowerPoint Presentation</vt:lpstr>
      <vt:lpstr>PowerPoint Presentation</vt:lpstr>
      <vt:lpstr>Example: Morpho menelaus – blue morpho butterfly</vt:lpstr>
      <vt:lpstr>What is modeling?</vt:lpstr>
      <vt:lpstr>Example: Linear Model</vt:lpstr>
      <vt:lpstr>BioClimate data (i.e., the x, independent, or predictor variables)</vt:lpstr>
      <vt:lpstr>GBIF: Global Biodiversity Information Facility (i.e. the y or dependent variable)</vt:lpstr>
      <vt:lpstr>Species Occurrences – Human Observations (i.e. the y or dependent variable)</vt:lpstr>
      <vt:lpstr>Generalized Linear Model – correlating occurrences with climate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Nathaniel Brown</dc:creator>
  <cp:lastModifiedBy>Jessica Blois</cp:lastModifiedBy>
  <cp:revision>5</cp:revision>
  <dcterms:created xsi:type="dcterms:W3CDTF">2024-06-19T17:41:24Z</dcterms:created>
  <dcterms:modified xsi:type="dcterms:W3CDTF">2026-02-16T20:19:15Z</dcterms:modified>
</cp:coreProperties>
</file>